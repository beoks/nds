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53987" y="1468487"/>
            <a:ext cx="3636026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인프라개발유닛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753987" y="2274838"/>
            <a:ext cx="3636026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0"/>
              </a:spcAft>
              <a:buNone/>
            </a:pPr>
            <a:r>
              <a:rPr lang="en-US" sz="24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주간 작업 명세서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89634" y="3027313"/>
            <a:ext cx="3564731" cy="647700"/>
          </a:xfrm>
          <a:prstGeom prst="roundRect">
            <a:avLst>
              <a:gd name="adj" fmla="val 15686"/>
            </a:avLst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272096" y="3217813"/>
            <a:ext cx="259980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2025.08.04 ~ 2025.08.07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-91440" y="4591050"/>
            <a:ext cx="93268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clouddev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2400"/>
            <a:ext cx="854964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Owen (방규빈)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81000" y="466725"/>
            <a:ext cx="85496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10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2025.08.04 ~ 2025.08.07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81000" y="952500"/>
            <a:ext cx="8382000" cy="307777"/>
          </a:xfrm>
          <a:prstGeom prst="roundRect">
            <a:avLst>
              <a:gd name="adj" fmla="val 16505"/>
            </a:avLst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400" y="1015901"/>
            <a:ext cx="823874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NIMS 2차 요구사항 고도화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1000" y="1323677"/>
            <a:ext cx="8382000" cy="774055"/>
          </a:xfrm>
          <a:prstGeom prst="roundRect">
            <a:avLst>
              <a:gd name="adj" fmla="val 656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04813" y="1323677"/>
            <a:ext cx="0" cy="774055"/>
          </a:xfrm>
          <a:prstGeom prst="line">
            <a:avLst/>
          </a:prstGeom>
          <a:noFill/>
          <a:ln w="47625">
            <a:solidFill>
              <a:srgbClr val="27AE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1025" y="1425178"/>
            <a:ext cx="8029575" cy="571054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운영포털 일정상세 신청정보 조회 수정 (8/7 완료)</a:t>
            </a:r>
            <a:endParaRPr lang="en-US" sz="1000" dirty="0"/>
          </a:p>
          <a:p>
            <a:pPr algn="l" marL="114300" indent="-114300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상품 연결성 조회 추가 (8/5 완료)</a:t>
            </a:r>
            <a:endParaRPr lang="en-US" sz="1000" dirty="0"/>
          </a:p>
          <a:p>
            <a:pPr algn="l" marL="114300" indent="-114300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연결 상태에 따른 아이콘 표시 추가 (8/7 완료)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81000" y="2250132"/>
            <a:ext cx="8382000" cy="307777"/>
          </a:xfrm>
          <a:prstGeom prst="roundRect">
            <a:avLst>
              <a:gd name="adj" fmla="val 16505"/>
            </a:avLst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33400" y="2313533"/>
            <a:ext cx="823874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자원관리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81000" y="2621310"/>
            <a:ext cx="8382000" cy="583704"/>
          </a:xfrm>
          <a:prstGeom prst="roundRect">
            <a:avLst>
              <a:gd name="adj" fmla="val 870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04813" y="2621310"/>
            <a:ext cx="0" cy="583704"/>
          </a:xfrm>
          <a:prstGeom prst="line">
            <a:avLst/>
          </a:prstGeom>
          <a:noFill/>
          <a:ln w="47625">
            <a:solidFill>
              <a:srgbClr val="27AE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1025" y="2722811"/>
            <a:ext cx="8029575" cy="380702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장비관리 상세정보 입력 유효성 검사 수정 (8/4 완료)</a:t>
            </a:r>
            <a:endParaRPr lang="en-US" sz="1000" dirty="0"/>
          </a:p>
          <a:p>
            <a:pPr algn="l" marL="114300" indent="-114300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등록/수정 모달 검증 추가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81000" y="3357414"/>
            <a:ext cx="8382000" cy="307777"/>
          </a:xfrm>
          <a:prstGeom prst="roundRect">
            <a:avLst>
              <a:gd name="adj" fmla="val 16505"/>
            </a:avLst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33400" y="3420814"/>
            <a:ext cx="823874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보안포털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81000" y="3728591"/>
            <a:ext cx="8382000" cy="393353"/>
          </a:xfrm>
          <a:prstGeom prst="roundRect">
            <a:avLst>
              <a:gd name="adj" fmla="val 1291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04813" y="3728591"/>
            <a:ext cx="0" cy="393353"/>
          </a:xfrm>
          <a:prstGeom prst="line">
            <a:avLst/>
          </a:prstGeom>
          <a:noFill/>
          <a:ln w="47625">
            <a:solidFill>
              <a:srgbClr val="27AE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1025" y="3830092"/>
            <a:ext cx="8029575" cy="190351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정기회의 참석 (8/5)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2400"/>
            <a:ext cx="854964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Chase (전창근)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81000" y="466725"/>
            <a:ext cx="85496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10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2025.08.04 ~ 2025.08.11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81000" y="952500"/>
            <a:ext cx="8382000" cy="307777"/>
          </a:xfrm>
          <a:prstGeom prst="roundRect">
            <a:avLst>
              <a:gd name="adj" fmla="val 16505"/>
            </a:avLst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400" y="1015901"/>
            <a:ext cx="823874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NIMS 마이그레이션 고도화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1000" y="1323677"/>
            <a:ext cx="8382000" cy="1040904"/>
          </a:xfrm>
          <a:prstGeom prst="roundRect">
            <a:avLst>
              <a:gd name="adj" fmla="val 488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04813" y="1323677"/>
            <a:ext cx="0" cy="1040904"/>
          </a:xfrm>
          <a:prstGeom prst="line">
            <a:avLst/>
          </a:prstGeom>
          <a:noFill/>
          <a:ln w="47625">
            <a:solidFill>
              <a:srgbClr val="F39C1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1025" y="1399877"/>
            <a:ext cx="8029575" cy="888504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400"/>
              </a:lnSpc>
              <a:buSzPct val="100000"/>
              <a:buChar char="•"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마이그레이션 대상 조정 (8/5)</a:t>
            </a:r>
            <a:endParaRPr lang="en-US" sz="1000" dirty="0"/>
          </a:p>
          <a:p>
            <a:pPr algn="l" marL="114300" indent="-114300">
              <a:lnSpc>
                <a:spcPts val="1400"/>
              </a:lnSpc>
              <a:buSzPct val="100000"/>
              <a:buChar char="•"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내부 알림 기능 추가 (8/4)</a:t>
            </a:r>
            <a:endParaRPr lang="en-US" sz="1000" dirty="0"/>
          </a:p>
          <a:p>
            <a:pPr algn="l" marL="114300" indent="-114300">
              <a:lnSpc>
                <a:spcPts val="1400"/>
              </a:lnSpc>
              <a:buSzPct val="100000"/>
              <a:buChar char="•"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VPS 마이그레이션 코드 추가</a:t>
            </a:r>
            <a:endParaRPr lang="en-US" sz="1000" dirty="0"/>
          </a:p>
          <a:p>
            <a:pPr algn="l" marL="114300" indent="-114300">
              <a:lnSpc>
                <a:spcPts val="1400"/>
              </a:lnSpc>
              <a:buSzPct val="100000"/>
              <a:buChar char="•"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알림 메일 템플릿 변경 대응 (8/4)</a:t>
            </a:r>
            <a:endParaRPr lang="en-US" sz="1000" dirty="0"/>
          </a:p>
          <a:p>
            <a:pPr algn="l" marL="114300" indent="-114300">
              <a:lnSpc>
                <a:spcPts val="1400"/>
              </a:lnSpc>
              <a:buSzPct val="100000"/>
              <a:buChar char="•"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롤백 기준가 조정 정보 삭제 프로세스 추가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81000" y="2440781"/>
            <a:ext cx="8382000" cy="275332"/>
          </a:xfrm>
          <a:prstGeom prst="roundRect">
            <a:avLst>
              <a:gd name="adj" fmla="val 18450"/>
            </a:avLst>
          </a:prstGeom>
          <a:solidFill>
            <a:srgbClr val="FEF9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07950" y="2504182"/>
            <a:ext cx="8290661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7D66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VPS 서비스는 마이그레이션 대상에서 우선 제외 / 2025.08.13 cron script 등록 예정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81000" y="2843064"/>
            <a:ext cx="8382000" cy="298252"/>
          </a:xfrm>
          <a:prstGeom prst="roundRect">
            <a:avLst>
              <a:gd name="adj" fmla="val 17033"/>
            </a:avLst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33400" y="2906464"/>
            <a:ext cx="823874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IDC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81000" y="3204716"/>
            <a:ext cx="8382000" cy="330101"/>
          </a:xfrm>
          <a:prstGeom prst="roundRect">
            <a:avLst>
              <a:gd name="adj" fmla="val 1538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04813" y="3204716"/>
            <a:ext cx="0" cy="330101"/>
          </a:xfrm>
          <a:prstGeom prst="line">
            <a:avLst/>
          </a:prstGeom>
          <a:noFill/>
          <a:ln w="47625">
            <a:solidFill>
              <a:srgbClr val="F39C1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1025" y="3280916"/>
            <a:ext cx="8029575" cy="177701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400"/>
              </a:lnSpc>
              <a:buSzPct val="100000"/>
              <a:buChar char="•"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연장 주문서 견적서와 금액 불일치 원인 파악 및 전달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20651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90500"/>
            <a:ext cx="85496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Zayden (이재성)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81000" y="558701"/>
            <a:ext cx="85496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2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2025.07.28 ~ 2025.08.29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81000" y="1111151"/>
            <a:ext cx="4064050" cy="333375"/>
          </a:xfrm>
          <a:prstGeom prst="roundRect">
            <a:avLst>
              <a:gd name="adj" fmla="val 15238"/>
            </a:avLst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400" y="1187351"/>
            <a:ext cx="383443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Admin 백엔드 시스템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1000" y="1520726"/>
            <a:ext cx="4064050" cy="1917502"/>
          </a:xfrm>
          <a:prstGeom prst="roundRect">
            <a:avLst>
              <a:gd name="adj" fmla="val 264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04813" y="1520726"/>
            <a:ext cx="0" cy="1917502"/>
          </a:xfrm>
          <a:prstGeom prst="line">
            <a:avLst/>
          </a:prstGeom>
          <a:noFill/>
          <a:ln w="47625">
            <a:solidFill>
              <a:srgbClr val="27AE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1025" y="1622227"/>
            <a:ext cx="3711625" cy="17145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1350"/>
              </a:lnSpc>
              <a:buSzPct val="100000"/>
              <a:buChar char="•"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 사용자 마스터 계정 상세 접근 권한 제한 (8/4)</a:t>
            </a:r>
            <a:endParaRPr lang="en-US" sz="900" dirty="0"/>
          </a:p>
          <a:p>
            <a:pPr algn="l" marL="95250" indent="-95250">
              <a:lnSpc>
                <a:spcPts val="1350"/>
              </a:lnSpc>
              <a:buSzPct val="100000"/>
              <a:buChar char="•"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 사용자 마스터 계정 보안 그룹 정보 접근 권한 제한 (8/4)</a:t>
            </a:r>
            <a:endParaRPr lang="en-US" sz="900" dirty="0"/>
          </a:p>
          <a:p>
            <a:pPr algn="l" marL="95250" indent="-95250">
              <a:lnSpc>
                <a:spcPts val="1350"/>
              </a:lnSpc>
              <a:buSzPct val="100000"/>
              <a:buChar char="•"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 사용자 마스터 계정 장비/솔루션 정보 조회 필터링 (8/5)</a:t>
            </a:r>
            <a:endParaRPr lang="en-US" sz="900" dirty="0"/>
          </a:p>
          <a:p>
            <a:pPr algn="l" marL="95250" indent="-95250">
              <a:lnSpc>
                <a:spcPts val="1350"/>
              </a:lnSpc>
              <a:buSzPct val="100000"/>
              <a:buChar char="•"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 사용자 서브 계정 생성시 그룹 관리 정보 추가 제한 (8/6)</a:t>
            </a:r>
            <a:endParaRPr lang="en-US" sz="900" dirty="0"/>
          </a:p>
          <a:p>
            <a:pPr algn="l" marL="95250" indent="-95250">
              <a:lnSpc>
                <a:spcPts val="1350"/>
              </a:lnSpc>
              <a:buSzPct val="100000"/>
              <a:buChar char="•"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 사용자 서브 계정 장비/솔루션 정보 조회 필터링 (8/6)</a:t>
            </a:r>
            <a:endParaRPr lang="en-US" sz="900" dirty="0"/>
          </a:p>
          <a:p>
            <a:pPr algn="l" marL="95250" indent="-95250">
              <a:lnSpc>
                <a:spcPts val="1350"/>
              </a:lnSpc>
              <a:buSzPct val="100000"/>
              <a:buChar char="•"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 사용자 서브 계정 비밀번호 초기화 접근 권한 제한 (8/6)</a:t>
            </a:r>
            <a:endParaRPr lang="en-US" sz="900" dirty="0"/>
          </a:p>
          <a:p>
            <a:pPr algn="l" marL="95250" indent="-95250">
              <a:lnSpc>
                <a:spcPts val="1350"/>
              </a:lnSpc>
              <a:buSzPct val="100000"/>
              <a:buChar char="•"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 사용자 서브 계정 OTP 초기화 접근 권한 제한 (8/6)</a:t>
            </a:r>
            <a:endParaRPr lang="en-US" sz="900" dirty="0"/>
          </a:p>
          <a:p>
            <a:pPr algn="l" marL="95250" indent="-95250">
              <a:lnSpc>
                <a:spcPts val="1350"/>
              </a:lnSpc>
              <a:buSzPct val="100000"/>
              <a:buChar char="•"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 사용자 보안 그룹 관리 담당자 중 Admin 정보 접근 제한 (8/6)</a:t>
            </a:r>
            <a:endParaRPr lang="en-US" sz="900" dirty="0"/>
          </a:p>
          <a:p>
            <a:pPr algn="l" marL="95250" indent="-95250">
              <a:lnSpc>
                <a:spcPts val="1350"/>
              </a:lnSpc>
              <a:buSzPct val="100000"/>
              <a:buChar char="•"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 사용자 보안 그룹 관리 담당자 수정 생략 기능 추가 (8/7)</a:t>
            </a:r>
            <a:endParaRPr lang="en-US" sz="900" dirty="0"/>
          </a:p>
          <a:p>
            <a:pPr algn="l" marL="95250" indent="-95250">
              <a:lnSpc>
                <a:spcPts val="1350"/>
              </a:lnSpc>
              <a:buSzPct val="100000"/>
              <a:buChar char="•"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 사용자 로그인 이력 조회시 GA 관리 담당자 추가 (8/7)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698950" y="1111151"/>
            <a:ext cx="4064050" cy="333375"/>
          </a:xfrm>
          <a:prstGeom prst="roundRect">
            <a:avLst>
              <a:gd name="adj" fmla="val 15238"/>
            </a:avLst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851350" y="1187351"/>
            <a:ext cx="383443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보안포털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98950" y="1520726"/>
            <a:ext cx="4064050" cy="717352"/>
          </a:xfrm>
          <a:prstGeom prst="roundRect">
            <a:avLst>
              <a:gd name="adj" fmla="val 708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722763" y="1520726"/>
            <a:ext cx="0" cy="717352"/>
          </a:xfrm>
          <a:prstGeom prst="line">
            <a:avLst/>
          </a:prstGeom>
          <a:noFill/>
          <a:ln w="47625">
            <a:solidFill>
              <a:srgbClr val="27AE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8975" y="1622227"/>
            <a:ext cx="3711625" cy="51435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1350"/>
              </a:lnSpc>
              <a:buSzPct val="100000"/>
              <a:buChar char="•"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보안포털 정기 회의 참석 (8/5)</a:t>
            </a:r>
            <a:endParaRPr lang="en-US" sz="900" dirty="0"/>
          </a:p>
          <a:p>
            <a:pPr algn="l" marL="95250" indent="-95250">
              <a:lnSpc>
                <a:spcPts val="1350"/>
              </a:lnSpc>
              <a:buSzPct val="100000"/>
              <a:buChar char="•"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수동 이력 엑셀 다운로드 작업 유형 추가 (8/5)</a:t>
            </a:r>
            <a:endParaRPr lang="en-US" sz="900" dirty="0"/>
          </a:p>
          <a:p>
            <a:pPr algn="l" marL="95250" indent="-95250">
              <a:lnSpc>
                <a:spcPts val="1350"/>
              </a:lnSpc>
              <a:buSzPct val="100000"/>
              <a:buChar char="•"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운영포털 일정 처리완료 플로우 문서 작성 (8/7)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98950" y="2365028"/>
            <a:ext cx="4064050" cy="333375"/>
          </a:xfrm>
          <a:prstGeom prst="roundRect">
            <a:avLst>
              <a:gd name="adj" fmla="val 15238"/>
            </a:avLst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851350" y="2441228"/>
            <a:ext cx="383443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 대응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98950" y="2774603"/>
            <a:ext cx="4064050" cy="717352"/>
          </a:xfrm>
          <a:prstGeom prst="roundRect">
            <a:avLst>
              <a:gd name="adj" fmla="val 708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722763" y="2774603"/>
            <a:ext cx="0" cy="717352"/>
          </a:xfrm>
          <a:prstGeom prst="line">
            <a:avLst/>
          </a:prstGeom>
          <a:noFill/>
          <a:ln w="47625">
            <a:solidFill>
              <a:srgbClr val="27AE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8975" y="2876104"/>
            <a:ext cx="3711625" cy="51435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1350"/>
              </a:lnSpc>
              <a:buSzPct val="100000"/>
              <a:buChar char="•"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작업 이력 기록 시 마스터 계정 이름 없는 경우 회사명 대체 (8/5)</a:t>
            </a:r>
            <a:endParaRPr lang="en-US" sz="900" dirty="0"/>
          </a:p>
          <a:p>
            <a:pPr algn="l" marL="95250" indent="-95250">
              <a:lnSpc>
                <a:spcPts val="1350"/>
              </a:lnSpc>
              <a:buSzPct val="100000"/>
              <a:buChar char="•"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(구) 보안포털 메모 초기화 이슈 수정 (8/4)</a:t>
            </a:r>
            <a:endParaRPr lang="en-US" sz="900" dirty="0"/>
          </a:p>
          <a:p>
            <a:pPr algn="l" marL="95250" indent="-95250">
              <a:lnSpc>
                <a:spcPts val="1350"/>
              </a:lnSpc>
              <a:buSzPct val="100000"/>
              <a:buChar char="•"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(구) 보안포털 관리자 가입 경로 삭제 이슈 대응 (8/4)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20651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90500"/>
            <a:ext cx="85496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Alan (김환승)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81000" y="558701"/>
            <a:ext cx="85496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2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2025.04.01 ~ 2025.08.26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81000" y="1111151"/>
            <a:ext cx="4064050" cy="333375"/>
          </a:xfrm>
          <a:prstGeom prst="roundRect">
            <a:avLst>
              <a:gd name="adj" fmla="val 15238"/>
            </a:avLst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400" y="1187351"/>
            <a:ext cx="383443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빌링 서비스 개선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1000" y="1520726"/>
            <a:ext cx="4064050" cy="888802"/>
          </a:xfrm>
          <a:prstGeom prst="roundRect">
            <a:avLst>
              <a:gd name="adj" fmla="val 571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04813" y="1520726"/>
            <a:ext cx="0" cy="888802"/>
          </a:xfrm>
          <a:prstGeom prst="line">
            <a:avLst/>
          </a:prstGeom>
          <a:noFill/>
          <a:ln w="47625">
            <a:solidFill>
              <a:srgbClr val="F39C1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1025" y="1622227"/>
            <a:ext cx="3711625" cy="6858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1350"/>
              </a:lnSpc>
              <a:buSzPct val="100000"/>
              <a:buChar char="•"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 배포 (7/30)</a:t>
            </a:r>
            <a:endParaRPr lang="en-US" sz="900" dirty="0"/>
          </a:p>
          <a:p>
            <a:pPr algn="l" marL="95250" indent="-95250">
              <a:lnSpc>
                <a:spcPts val="1350"/>
              </a:lnSpc>
              <a:buSzPct val="100000"/>
              <a:buChar char="•"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 컬럼 추가 수집으로 인한 운영 DB CRON 에러 대응 (7/31)</a:t>
            </a:r>
            <a:endParaRPr lang="en-US" sz="900" dirty="0"/>
          </a:p>
          <a:p>
            <a:pPr algn="l" marL="95250" indent="-95250">
              <a:lnSpc>
                <a:spcPts val="1350"/>
              </a:lnSpc>
              <a:buSzPct val="100000"/>
              <a:buChar char="•"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월 이용금액 테이블 - SP 미구매 금액 항목 추가 집계 (8/6)</a:t>
            </a:r>
            <a:endParaRPr lang="en-US" sz="900" dirty="0"/>
          </a:p>
          <a:p>
            <a:pPr algn="l" marL="95250" indent="-95250">
              <a:lnSpc>
                <a:spcPts val="1350"/>
              </a:lnSpc>
              <a:buSzPct val="100000"/>
              <a:buChar char="•"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이용내역 location - region 조회 API 수정 (7/31)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1000" y="2536478"/>
            <a:ext cx="4064050" cy="333375"/>
          </a:xfrm>
          <a:prstGeom prst="roundRect">
            <a:avLst>
              <a:gd name="adj" fmla="val 15238"/>
            </a:avLst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33400" y="2612678"/>
            <a:ext cx="383443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사용분석 대시보드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81000" y="2946053"/>
            <a:ext cx="4064050" cy="888802"/>
          </a:xfrm>
          <a:prstGeom prst="roundRect">
            <a:avLst>
              <a:gd name="adj" fmla="val 571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04813" y="2946053"/>
            <a:ext cx="0" cy="888802"/>
          </a:xfrm>
          <a:prstGeom prst="line">
            <a:avLst/>
          </a:prstGeom>
          <a:noFill/>
          <a:ln w="47625">
            <a:solidFill>
              <a:srgbClr val="F39C1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1025" y="3047554"/>
            <a:ext cx="3711625" cy="6858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1350"/>
              </a:lnSpc>
              <a:buSzPct val="100000"/>
              <a:buChar char="•"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 - region CRON 수정 (8/1)</a:t>
            </a:r>
            <a:endParaRPr lang="en-US" sz="900" dirty="0"/>
          </a:p>
          <a:p>
            <a:pPr algn="l" marL="95250" indent="-95250">
              <a:lnSpc>
                <a:spcPts val="1350"/>
              </a:lnSpc>
              <a:buSzPct val="100000"/>
              <a:buChar char="•"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조회 날짜 기준 데이터 생성 및 조회 수정 (8/5)</a:t>
            </a:r>
            <a:endParaRPr lang="en-US" sz="900" dirty="0"/>
          </a:p>
          <a:p>
            <a:pPr algn="l" marL="95250" indent="-95250">
              <a:lnSpc>
                <a:spcPts val="1350"/>
              </a:lnSpc>
              <a:buSzPct val="100000"/>
              <a:buChar char="•"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약정할인 line_item_type usage로 치환 (8/6)</a:t>
            </a:r>
            <a:endParaRPr lang="en-US" sz="900" dirty="0"/>
          </a:p>
          <a:p>
            <a:pPr algn="l" marL="95250" indent="-95250">
              <a:lnSpc>
                <a:spcPts val="1350"/>
              </a:lnSpc>
              <a:buSzPct val="100000"/>
              <a:buChar char="•"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리소스 필터 조회 시 서비스 별 리소스 ID 매핑 컬럼 추가 (8/11)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98950" y="1111151"/>
            <a:ext cx="4064050" cy="333375"/>
          </a:xfrm>
          <a:prstGeom prst="roundRect">
            <a:avLst>
              <a:gd name="adj" fmla="val 15238"/>
            </a:avLst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851350" y="1187351"/>
            <a:ext cx="383443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인증후(어드민)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98950" y="1520726"/>
            <a:ext cx="4064050" cy="374452"/>
          </a:xfrm>
          <a:prstGeom prst="roundRect">
            <a:avLst>
              <a:gd name="adj" fmla="val 1356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722763" y="1520726"/>
            <a:ext cx="0" cy="374452"/>
          </a:xfrm>
          <a:prstGeom prst="line">
            <a:avLst/>
          </a:prstGeom>
          <a:noFill/>
          <a:ln w="47625">
            <a:solidFill>
              <a:srgbClr val="27AE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8975" y="1622227"/>
            <a:ext cx="3711625" cy="17145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1350"/>
              </a:lnSpc>
              <a:buSzPct val="100000"/>
              <a:buChar char="•"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월 전체 계정 비용 추출 - SP 미구매 금액 추가 집계 (8/7)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698950" y="2022128"/>
            <a:ext cx="4064050" cy="333375"/>
          </a:xfrm>
          <a:prstGeom prst="roundRect">
            <a:avLst>
              <a:gd name="adj" fmla="val 15238"/>
            </a:avLst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851350" y="2098328"/>
            <a:ext cx="383443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이용보고서 개발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698950" y="2431703"/>
            <a:ext cx="4064050" cy="888802"/>
          </a:xfrm>
          <a:prstGeom prst="roundRect">
            <a:avLst>
              <a:gd name="adj" fmla="val 571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4722763" y="2431703"/>
            <a:ext cx="0" cy="888802"/>
          </a:xfrm>
          <a:prstGeom prst="line">
            <a:avLst/>
          </a:prstGeom>
          <a:noFill/>
          <a:ln w="47625">
            <a:solidFill>
              <a:srgbClr val="F39C1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8975" y="2533204"/>
            <a:ext cx="3711625" cy="6858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1350"/>
              </a:lnSpc>
              <a:buSzPct val="100000"/>
              <a:buChar char="•"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V3 PDF 다운로드 개발 (7/11 완료)</a:t>
            </a:r>
            <a:endParaRPr lang="en-US" sz="900" dirty="0"/>
          </a:p>
          <a:p>
            <a:pPr algn="l" marL="95250" indent="-95250">
              <a:lnSpc>
                <a:spcPts val="1350"/>
              </a:lnSpc>
              <a:buSzPct val="100000"/>
              <a:buChar char="•"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신규 템플릿 수정 (8/21 예정)</a:t>
            </a:r>
            <a:endParaRPr lang="en-US" sz="900" dirty="0"/>
          </a:p>
          <a:p>
            <a:pPr algn="l" marL="95250" indent="-95250">
              <a:lnSpc>
                <a:spcPts val="1350"/>
              </a:lnSpc>
              <a:buSzPct val="100000"/>
              <a:buChar char="•"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이용보고서 관련 API 수정 (8/28 예정)</a:t>
            </a:r>
            <a:endParaRPr lang="en-US" sz="900" dirty="0"/>
          </a:p>
          <a:p>
            <a:pPr algn="l" marL="95250" indent="-95250">
              <a:lnSpc>
                <a:spcPts val="1350"/>
              </a:lnSpc>
              <a:buSzPct val="100000"/>
              <a:buChar char="•"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다운로드 통합 테스트 (9/12 예정)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698950" y="3447455"/>
            <a:ext cx="4064050" cy="333375"/>
          </a:xfrm>
          <a:prstGeom prst="roundRect">
            <a:avLst>
              <a:gd name="adj" fmla="val 15238"/>
            </a:avLst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851350" y="3523655"/>
            <a:ext cx="383443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인프라 작업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698950" y="3857030"/>
            <a:ext cx="4064050" cy="545902"/>
          </a:xfrm>
          <a:prstGeom prst="roundRect">
            <a:avLst>
              <a:gd name="adj" fmla="val 930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4722763" y="3857030"/>
            <a:ext cx="0" cy="545902"/>
          </a:xfrm>
          <a:prstGeom prst="line">
            <a:avLst/>
          </a:prstGeom>
          <a:noFill/>
          <a:ln w="47625">
            <a:solidFill>
              <a:srgbClr val="27AE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8975" y="3958530"/>
            <a:ext cx="3711625" cy="3429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1350"/>
              </a:lnSpc>
              <a:buSzPct val="100000"/>
              <a:buChar char="•"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운영 DB 리소스 증설 (8/5) - 240GB to 480GB</a:t>
            </a:r>
            <a:endParaRPr lang="en-US" sz="900" dirty="0"/>
          </a:p>
          <a:p>
            <a:pPr algn="l" marL="95250" indent="-95250">
              <a:lnSpc>
                <a:spcPts val="1350"/>
              </a:lnSpc>
              <a:buSzPct val="100000"/>
              <a:buChar char="•"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운영 DB 리소스 증설 (슬레이브) (8/7)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698950" y="4529882"/>
            <a:ext cx="4064050" cy="276225"/>
          </a:xfrm>
          <a:prstGeom prst="roundRect">
            <a:avLst>
              <a:gd name="adj" fmla="val 18391"/>
            </a:avLst>
          </a:prstGeom>
          <a:solidFill>
            <a:srgbClr val="FEF9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825901" y="4606082"/>
            <a:ext cx="388635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D66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이용보고서 버저닝, 디버깅 이슈로 일정 변경: 8/3 to 8/26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90500"/>
            <a:ext cx="85496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이슈사항 및 참고 문서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7950" y="1066800"/>
            <a:ext cx="8290661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관련 문서 링크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7950" y="1444526"/>
            <a:ext cx="2539901" cy="38100"/>
          </a:xfrm>
          <a:prstGeom prst="rect">
            <a:avLst/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07950" y="1736527"/>
            <a:ext cx="8128099" cy="193059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6941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61851" y="1990427"/>
            <a:ext cx="7620298" cy="1422797"/>
          </a:xfrm>
          <a:prstGeom prst="rect">
            <a:avLst/>
          </a:prstGeom>
          <a:noFill/>
          <a:ln/>
        </p:spPr>
        <p:txBody>
          <a:bodyPr wrap="square" lIns="158750" tIns="0" rIns="0" bIns="0" rtlCol="0" anchor="t"/>
          <a:lstStyle/>
          <a:p>
            <a:pPr algn="l" marL="158750" indent="-15875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작업 중간 현황 정리 및 일정</a:t>
            </a:r>
            <a:endParaRPr lang="en-US" sz="1400" dirty="0"/>
          </a:p>
          <a:p>
            <a:pPr algn="l" marL="158750" indent="-15875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2025 작업 현황 정리</a:t>
            </a:r>
            <a:endParaRPr lang="en-US" sz="1400" dirty="0"/>
          </a:p>
          <a:p>
            <a:pPr algn="l" marL="158750" indent="-15875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보안포털 2차 작업 목록 - 일정 협의 필요</a:t>
            </a:r>
            <a:endParaRPr lang="en-US" sz="1400" dirty="0"/>
          </a:p>
          <a:p>
            <a:pPr algn="l" marL="158750" indent="-15875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2차 고도화 작업 목록 - 기획 진행중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0" y="4581525"/>
            <a:ext cx="9144000" cy="561975"/>
          </a:xfrm>
          <a:prstGeom prst="rect">
            <a:avLst/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97180" y="4772025"/>
            <a:ext cx="854964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인프라개발유닛 주간 작업 명세서 | 2025.08.04 ~ 2025.08.07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인프라개발유닛 - 작업 명세서 (2025-08-04 ~ 2025-08-07)</dc:title>
  <dc:subject>주간 업무 보고</dc:subject>
  <dc:creator>인프라개발유닛</dc:creator>
  <cp:lastModifiedBy>인프라개발유닛</cp:lastModifiedBy>
  <cp:revision>1</cp:revision>
  <dcterms:created xsi:type="dcterms:W3CDTF">2026-01-15T02:46:01Z</dcterms:created>
  <dcterms:modified xsi:type="dcterms:W3CDTF">2026-01-15T02:46:01Z</dcterms:modified>
</cp:coreProperties>
</file>